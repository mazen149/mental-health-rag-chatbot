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SERENE AI
</a:t>
            </a:r>
          </a:p>
          <a:p>
            <a:pPr algn="ctr"/>
            <a:r>
              <a:rPr sz="1300" b="1">
                <a:solidFill>
                  <a:srgbClr val="C7D2FE"/>
                </a:solidFill>
                <a:latin typeface="Calibri"/>
              </a:rPr>
              <a:t>NLP FINAL PROJECT
TECHNICAL REVIEW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b="1">
                <a:solidFill>
                  <a:srgbClr val="0F172A"/>
                </a:solidFill>
                <a:latin typeface="Calibri"/>
              </a:rPr>
              <a:t>Serene AI: Empathetic, Grounded Mental Health Support</a:t>
            </a:r>
          </a:p>
          <a:p>
            <a:pPr algn="l">
              <a:spcBef>
                <a:spcPts val="0"/>
              </a:spcBef>
              <a:spcAft>
                <a:spcPts val="280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Deep Technical Review of Machine Learning Notebooks &amp; Multi-Layered Routing Architecture</a:t>
            </a:r>
          </a:p>
          <a:p>
            <a:r>
              <a:rPr sz="1300" b="1">
                <a:solidFill>
                  <a:srgbClr val="0F766E"/>
                </a:solidFill>
                <a:latin typeface="Calibri"/>
              </a:rPr>
              <a:t>NLP Final Project Team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3A87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TOC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Table of Contents &amp;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0116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F172A"/>
                </a:solidFill>
                <a:latin typeface="Calibri"/>
              </a:rPr>
              <a:t>Part A: System Architecture &amp; Routing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High-level system topology, query processing flow, and multi-layered safety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3A87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Overall System Architecture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2286000"/>
            <a:ext cx="219456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STAGE 1
</a:t>
            </a:r>
            <a:r>
              <a:rPr sz="1400" b="1">
                <a:solidFill>
                  <a:srgbClr val="0F172A"/>
                </a:solidFill>
                <a:latin typeface="Calibri"/>
              </a:rPr>
              <a:t>User Input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User submits query via text or browser MediaRecorder microphone voice capture WAV blob.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69767" y="3154680"/>
            <a:ext cx="365760" cy="27432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26967" y="2286000"/>
            <a:ext cx="219456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STAGE 2
</a:t>
            </a:r>
            <a:r>
              <a:rPr sz="1400" b="1">
                <a:solidFill>
                  <a:srgbClr val="0F172A"/>
                </a:solidFill>
                <a:latin typeface="Calibri"/>
              </a:rPr>
              <a:t>Routing Engine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Layer 1 Regex fast-path checks greetings. Fallbacks classify intent &amp; emotion centroids.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12967" y="3154680"/>
            <a:ext cx="365760" cy="27432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0167" y="2286000"/>
            <a:ext cx="219456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STAGE 3
</a:t>
            </a:r>
            <a:r>
              <a:rPr sz="1400" b="1">
                <a:solidFill>
                  <a:srgbClr val="0F172A"/>
                </a:solidFill>
                <a:latin typeface="Calibri"/>
              </a:rPr>
              <a:t>Knowledge Retrieval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Qdrant dense + BM25 sparse hybrid search (k=10), reranked via BGE Cross-Encoder.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56167" y="3154680"/>
            <a:ext cx="365760" cy="27432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13367" y="2286000"/>
            <a:ext cx="219456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STAGE 4
</a:t>
            </a:r>
            <a:r>
              <a:rPr sz="1400" b="1">
                <a:solidFill>
                  <a:srgbClr val="0F172A"/>
                </a:solidFill>
                <a:latin typeface="Calibri"/>
              </a:rPr>
              <a:t>Empathetic Generation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DSPy response generator merges top-5 contexts, chat history &amp; emotion guidelines.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3A87"/>
                </a:solidFill>
                <a:latin typeface="Calibri"/>
              </a:rPr>
              <a:t>ROUTING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Three-Layer Query Routing Decision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2647" y="1554480"/>
            <a:ext cx="54864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USER QUERY (any language)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240280"/>
            <a:ext cx="274320" cy="365760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95447" y="2651760"/>
            <a:ext cx="6400800" cy="822960"/>
          </a:xfrm>
          <a:prstGeom prst="roundRect">
            <a:avLst/>
          </a:prstGeom>
          <a:solidFill>
            <a:srgbClr val="2E3A87"/>
          </a:solidFill>
          <a:ln w="12700">
            <a:solidFill>
              <a:srgbClr val="2E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LAYER 1: Regex Guardrails (Greeting/Goodbye/Gratitude)
</a:t>
            </a:r>
            <a:r>
              <a:rPr sz="1050">
                <a:solidFill>
                  <a:srgbClr val="F1F5F9"/>
                </a:solidFill>
                <a:latin typeface="Calibri"/>
              </a:rPr>
              <a:t>Fast-Path (0ms response latency, 0 API tokens)</a:t>
            </a:r>
          </a:p>
        </p:txBody>
      </p:sp>
      <p:sp>
        <p:nvSpPr>
          <p:cNvPr id="9" name="Left Arrow 8"/>
          <p:cNvSpPr/>
          <p:nvPr/>
        </p:nvSpPr>
        <p:spPr>
          <a:xfrm>
            <a:off x="1981047" y="2926080"/>
            <a:ext cx="731520" cy="274320"/>
          </a:xfrm>
          <a:prstGeom prst="lef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" y="2606040"/>
            <a:ext cx="1737360" cy="914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2410C"/>
                </a:solidFill>
                <a:latin typeface="Calibri"/>
              </a:rPr>
              <a:t>Match Found:
Direct Template Reply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520440"/>
            <a:ext cx="274320" cy="365760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95447" y="3931920"/>
            <a:ext cx="6400800" cy="82296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LAYER 2: Multilingual Embedding similarity
</a:t>
            </a:r>
            <a:r>
              <a:rPr sz="1050">
                <a:solidFill>
                  <a:srgbClr val="F1F5F9"/>
                </a:solidFill>
                <a:latin typeface="Calibri"/>
              </a:rPr>
              <a:t>MiniLM-L12 centroid distance (Score threshold = 0.65)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79127" y="4206240"/>
            <a:ext cx="731520" cy="27432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93527" y="3886200"/>
            <a:ext cx="1737360" cy="914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766E"/>
                </a:solidFill>
                <a:latin typeface="Calibri"/>
              </a:rPr>
              <a:t>Similarity &gt;= 0.65:
Route to Intent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800600"/>
            <a:ext cx="274320" cy="365760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95447" y="5212080"/>
            <a:ext cx="640080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E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LAYER 3: DSPy LLM Fallback Classifier (Groq API)
</a:t>
            </a:r>
            <a:r>
              <a:rPr sz="1000">
                <a:solidFill>
                  <a:srgbClr val="475569"/>
                </a:solidFill>
                <a:latin typeface="Calibri"/>
              </a:rPr>
              <a:t>Robust adversarial prompt weights to handle edge cases &amp; jailbreak attempts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2410C"/>
                </a:solidFill>
                <a:latin typeface="Calibri"/>
              </a:rPr>
              <a:t>SAFETY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The 85% Crisis Safety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2410C"/>
                </a:solidFill>
                <a:latin typeface="Calibri"/>
              </a:rPr>
              <a:t>The Crisis Keyword Challenge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Keyword bypasses</a:t>
            </a:r>
            <a:r>
              <a:rPr sz="1200" b="0">
                <a:solidFill>
                  <a:srgbClr val="475569"/>
                </a:solidFill>
                <a:latin typeface="Calibri"/>
              </a:rPr>
              <a:t> (e.g., checking 'suicide' prefix) caused high false positives on academic, casual, or historical mentions.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Embedding centroids</a:t>
            </a:r>
            <a:r>
              <a:rPr sz="1200" b="0">
                <a:solidFill>
                  <a:srgbClr val="475569"/>
                </a:solidFill>
                <a:latin typeface="Calibri"/>
              </a:rPr>
              <a:t> capture broad semantics but suffer from fuzzy cosine boundaries near high-arousal distress words.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The risk</a:t>
            </a:r>
            <a:r>
              <a:rPr sz="1200" b="0">
                <a:solidFill>
                  <a:srgbClr val="475569"/>
                </a:solidFill>
                <a:latin typeface="Calibri"/>
              </a:rPr>
              <a:t>: True emergencies must be intercepted instantly with helper numbers, but conversational queries shouldn't be blocked.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2410C"/>
                </a:solidFill>
                <a:latin typeface="Calibri"/>
              </a:rPr>
              <a:t>Two-Layer Confidence Routing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Embedding Gate</a:t>
            </a:r>
            <a:r>
              <a:rPr sz="1200" b="0">
                <a:solidFill>
                  <a:srgbClr val="475569"/>
                </a:solidFill>
                <a:latin typeface="Calibri"/>
              </a:rPr>
              <a:t>: If embedding classifier predicts 'crisis' with score </a:t>
            </a:r>
            <a:r>
              <a:rPr sz="1200" b="1">
                <a:solidFill>
                  <a:srgbClr val="0F172A"/>
                </a:solidFill>
                <a:latin typeface="Calibri"/>
              </a:rPr>
              <a:t>&gt;= 0.85</a:t>
            </a:r>
            <a:r>
              <a:rPr sz="1200" b="0">
                <a:solidFill>
                  <a:srgbClr val="475569"/>
                </a:solidFill>
                <a:latin typeface="Calibri"/>
              </a:rPr>
              <a:t>, route to emergency response immediately.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LLM Fallback Gate</a:t>
            </a:r>
            <a:r>
              <a:rPr sz="1200" b="0">
                <a:solidFill>
                  <a:srgbClr val="475569"/>
                </a:solidFill>
                <a:latin typeface="Calibri"/>
              </a:rPr>
              <a:t>: If score is </a:t>
            </a:r>
            <a:r>
              <a:rPr sz="1200" b="1">
                <a:solidFill>
                  <a:srgbClr val="0F172A"/>
                </a:solidFill>
                <a:latin typeface="Calibri"/>
              </a:rPr>
              <a:t>&lt; 0.85</a:t>
            </a:r>
            <a:r>
              <a:rPr sz="1200" b="0">
                <a:solidFill>
                  <a:srgbClr val="475569"/>
                </a:solidFill>
                <a:latin typeface="Calibri"/>
              </a:rPr>
              <a:t>, bypass the early-route and run LLM classifier double-check.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Outcome</a:t>
            </a:r>
            <a:r>
              <a:rPr sz="1200" b="0">
                <a:solidFill>
                  <a:srgbClr val="475569"/>
                </a:solidFill>
                <a:latin typeface="Calibri"/>
              </a:rPr>
              <a:t>: Eliminates false-positive lockouts while maintaining a robust safety net for genuine crises.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0116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F172A"/>
                </a:solidFill>
                <a:latin typeface="Calibri"/>
              </a:rPr>
              <a:t>Part B: Machine Learning Notebooks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Deep technical review of Notebook 1 (Language Detection) and Notebook 2 (Multilingual Emotion Classifier).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LANGUAGE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Notebook 1: Language Detection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Objective &amp; Dataset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Core Objective</a:t>
            </a:r>
            <a:r>
              <a:rPr sz="1200" b="0">
                <a:solidFill>
                  <a:srgbClr val="475569"/>
                </a:solidFill>
                <a:latin typeface="Calibri"/>
              </a:rPr>
              <a:t>: Identify query language to determine downstream translation and localize assistant responses.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Dataset</a:t>
            </a:r>
            <a:r>
              <a:rPr sz="1200" b="0">
                <a:solidFill>
                  <a:srgbClr val="475569"/>
                </a:solidFill>
                <a:latin typeface="Calibri"/>
              </a:rPr>
              <a:t>: Massive multilingual corpus spanning </a:t>
            </a:r>
            <a:r>
              <a:rPr sz="1200" b="1">
                <a:solidFill>
                  <a:srgbClr val="0F172A"/>
                </a:solidFill>
                <a:latin typeface="Calibri"/>
              </a:rPr>
              <a:t>20+ languages</a:t>
            </a:r>
            <a:r>
              <a:rPr sz="1200" b="0">
                <a:solidFill>
                  <a:srgbClr val="475569"/>
                </a:solidFill>
                <a:latin typeface="Calibri"/>
              </a:rPr>
              <a:t> (English, Arabic, Urdu, French, Spanish, German, etc.).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Performance Goal</a:t>
            </a:r>
            <a:r>
              <a:rPr sz="1200" b="0">
                <a:solidFill>
                  <a:srgbClr val="475569"/>
                </a:solidFill>
                <a:latin typeface="Calibri"/>
              </a:rPr>
              <a:t>: High inference throughput (&lt; 5ms response) with extremely light memory footprint at startup.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Modeling Strategy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Feature Extraction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`TfidfVectorizer` capturing character and word-level n-gram structures.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Classifier</a:t>
            </a:r>
            <a:r>
              <a:rPr sz="1200" b="0">
                <a:solidFill>
                  <a:srgbClr val="475569"/>
                </a:solidFill>
                <a:latin typeface="Calibri"/>
              </a:rPr>
              <a:t>: Scikit-Learn `LogisticRegression` model with strong L2 weight decay.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Serialization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Saved best model weights to `.pkl` files for instant boot-time loading.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Eight-Step Text Preprocessing Pipeline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4965192"/>
              </a:tblGrid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Details &amp; Purpose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1. Remove URLs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Regex replace of http/https/www patterns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Removes web link noise to focus on literal text tokens.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2. Remove Emails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Regex replace of email word structures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Anonymizes data and prevents credential embedding artifacts.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3. Character Trim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Slice input string to maximum 300 characters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Caps feature dimensions and ensures fast classification speed.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4. Unicode Norm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Normalize characters to NFKC 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Standardizes non-Latin alphabets and text encodings.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5. Lowercasing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Convert all text characters to lowercase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Combines feature representations and limits vocabulary size.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6. Punctuation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Replace [^\w\s] symbols with space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Cleans auxiliary separators and avoids split-word errors.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7. Space Cleanup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Regex replace duplicate white spaces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Maintains spacing integrity for word n-gram extraction.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8. Text Stripping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Strip outer white margins from inputs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Ensures neat boundary tokens before feeding to TF-IDF.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2410C"/>
                </a:solidFill>
                <a:latin typeface="Calibri"/>
              </a:rP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Challenge: Short-Text Query Discrepancy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2410C"/>
                </a:solidFill>
                <a:latin typeface="Calibri"/>
              </a:rPr>
              <a:t>The Training vs. Production Gap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Notebook Training Data</a:t>
            </a:r>
            <a:r>
              <a:rPr sz="1200" b="0">
                <a:solidFill>
                  <a:srgbClr val="475569"/>
                </a:solidFill>
                <a:latin typeface="Calibri"/>
              </a:rPr>
              <a:t>: Model trained on long paragraph-length multilingual texts containing rich context keys.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Production Chatbot Queries</a:t>
            </a:r>
            <a:r>
              <a:rPr sz="1200" b="0">
                <a:solidFill>
                  <a:srgbClr val="475569"/>
                </a:solidFill>
                <a:latin typeface="Calibri"/>
              </a:rPr>
              <a:t>: Users submit short phrases, greetings, or single words (e.g. 'hello', 'أهلاً', 'stressed').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TF-IDF Sparsity</a:t>
            </a:r>
            <a:r>
              <a:rPr sz="1200" b="0">
                <a:solidFill>
                  <a:srgbClr val="475569"/>
                </a:solidFill>
                <a:latin typeface="Calibri"/>
              </a:rPr>
              <a:t>: Short text yields extremely sparse vectors with zero overlaps in word-level vocabularies.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2410C"/>
                </a:solidFill>
                <a:latin typeface="Calibri"/>
              </a:rPr>
              <a:t>Impact on Classification Accuracy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Failure Mode</a:t>
            </a:r>
            <a:r>
              <a:rPr sz="1200" b="0">
                <a:solidFill>
                  <a:srgbClr val="475569"/>
                </a:solidFill>
                <a:latin typeface="Calibri"/>
              </a:rPr>
              <a:t>: Under-prediction or misclassification of short, non-English inputs as English due to baseline token gaps.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Consequence</a:t>
            </a:r>
            <a:r>
              <a:rPr sz="1200" b="0">
                <a:solidFill>
                  <a:srgbClr val="475569"/>
                </a:solidFill>
                <a:latin typeface="Calibri"/>
              </a:rPr>
              <a:t>: Translation bypass gets skipped or wrongly activated, throwing off intent classifiers.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Solution: Sub-Sentential Augmentation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Sub-segment Generation Strategy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`make_short_variants`</a:t>
            </a:r>
            <a:r>
              <a:rPr sz="1200" b="0">
                <a:solidFill>
                  <a:srgbClr val="475569"/>
                </a:solidFill>
                <a:latin typeface="Calibri"/>
              </a:rPr>
              <a:t>: Custom generator slicing original long texts into 1-3 word combinations.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Sliding Windows</a:t>
            </a:r>
            <a:r>
              <a:rPr sz="1200" b="0">
                <a:solidFill>
                  <a:srgbClr val="475569"/>
                </a:solidFill>
                <a:latin typeface="Calibri"/>
              </a:rPr>
              <a:t>: Extracts random substrings of lengths 3, 5, 8, and 10 to mimic user fragments.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Boundary Truncation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Captures prefixes and suffixes of length 10 to represent typing shortcuts.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Augmentation Pipeline &amp; Gains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Balanced Augments</a:t>
            </a:r>
            <a:r>
              <a:rPr sz="1200" b="0">
                <a:solidFill>
                  <a:srgbClr val="475569"/>
                </a:solidFill>
                <a:latin typeface="Calibri"/>
              </a:rPr>
              <a:t>: Injected </a:t>
            </a:r>
            <a:r>
              <a:rPr sz="1200" b="1">
                <a:solidFill>
                  <a:srgbClr val="0F172A"/>
                </a:solidFill>
                <a:latin typeface="Calibri"/>
              </a:rPr>
              <a:t>200 short variants per language</a:t>
            </a:r>
            <a:r>
              <a:rPr sz="1200" b="0">
                <a:solidFill>
                  <a:srgbClr val="475569"/>
                </a:solidFill>
                <a:latin typeface="Calibri"/>
              </a:rPr>
              <a:t> into the primary training dataset.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Generalization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Dramatic improvement in classifier robustness on conversational greeting/distress keywords.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Overhead Free</a:t>
            </a:r>
            <a:r>
              <a:rPr sz="1200" b="0">
                <a:solidFill>
                  <a:srgbClr val="475569"/>
                </a:solidFill>
                <a:latin typeface="Calibri"/>
              </a:rPr>
              <a:t>: Kept the TF-IDF feature vocabulary compact while boosting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GRID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Grid Search &amp; MLflow Tracking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2011680"/>
                <a:gridCol w="2587752"/>
              </a:tblGrid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Experiment Name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Analyzer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ngram_range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Validation Accuracy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TF-IDF 40k with ngram_range(1,4) wb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char_wb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(1, 4)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 b="1">
                          <a:solidFill>
                            <a:srgbClr val="2E3A87"/>
                          </a:solidFill>
                          <a:latin typeface="Calibri"/>
                        </a:rPr>
                        <a:t>98.92% (Best)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TF-IDF 40k with ngram_range(2,4) wb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char_wb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(2, 4)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98.54%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TF-IDF 30k with ngram_range(1,3) wb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char_wb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(1, 3)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98.10%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TF-IDF 35k with ngram_range(1,5) 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(1, 5)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97.45%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TF-IDF 30k with ngram_range(1,5) word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(1, 5)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97.30%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TF-IDF 30k with ngram_range(1,2) 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(1, 2)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95.60%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TF-IDF 25k with ngram_range(2,4) char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char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(2, 4)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94.20%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TF-IDF 25k with ngram_range(1,5) char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char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(1, 5)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93.80%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Language Model Selection &amp;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Artifact Serialization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Best Configuration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Character word-boundary (`char_wb`) TF-IDF vectorizer with max 40k features and ngram(1,4).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Pickle Save</a:t>
            </a:r>
            <a:r>
              <a:rPr sz="1200" b="0">
                <a:solidFill>
                  <a:srgbClr val="475569"/>
                </a:solidFill>
                <a:latin typeface="Calibri"/>
              </a:rPr>
              <a:t>: Serialized best model and vectorizer as `.pkl` objects under `artifacts/` folder.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Test Accuracy</a:t>
            </a:r>
            <a:r>
              <a:rPr sz="1200" b="0">
                <a:solidFill>
                  <a:srgbClr val="475569"/>
                </a:solidFill>
                <a:latin typeface="Calibri"/>
              </a:rPr>
              <a:t>: Confirmed final </a:t>
            </a:r>
            <a:r>
              <a:rPr sz="1200" b="1">
                <a:solidFill>
                  <a:srgbClr val="0F172A"/>
                </a:solidFill>
                <a:latin typeface="Calibri"/>
              </a:rPr>
              <a:t>98.92% accuracy</a:t>
            </a:r>
            <a:r>
              <a:rPr sz="1200" b="0">
                <a:solidFill>
                  <a:srgbClr val="475569"/>
                </a:solidFill>
                <a:latin typeface="Calibri"/>
              </a:rPr>
              <a:t> on unseen test split.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Production Integration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Fast Inference</a:t>
            </a:r>
            <a:r>
              <a:rPr sz="1200" b="0">
                <a:solidFill>
                  <a:srgbClr val="475569"/>
                </a:solidFill>
                <a:latin typeface="Calibri"/>
              </a:rPr>
              <a:t>: Feature transformation and classifier runs in </a:t>
            </a:r>
            <a:r>
              <a:rPr sz="1200" b="1">
                <a:solidFill>
                  <a:srgbClr val="0F172A"/>
                </a:solidFill>
                <a:latin typeface="Calibri"/>
              </a:rPr>
              <a:t>&lt; 1ms</a:t>
            </a:r>
            <a:r>
              <a:rPr sz="1200" b="0">
                <a:solidFill>
                  <a:srgbClr val="475569"/>
                </a:solidFill>
                <a:latin typeface="Calibri"/>
              </a:rPr>
              <a:t> on standard CPU hardware.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Startup Event</a:t>
            </a:r>
            <a:r>
              <a:rPr sz="1200" b="0">
                <a:solidFill>
                  <a:srgbClr val="475569"/>
                </a:solidFill>
                <a:latin typeface="Calibri"/>
              </a:rPr>
              <a:t>: Preloaded during FastAPI startup using `asyncio.to_thread` to prevent runtime lag.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Downstream Trigger</a:t>
            </a:r>
            <a:r>
              <a:rPr sz="1200" b="0">
                <a:solidFill>
                  <a:srgbClr val="475569"/>
                </a:solidFill>
                <a:latin typeface="Calibri"/>
              </a:rPr>
              <a:t>: Detected language code shapes routing, translation pipelines, and system responses.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EMOTION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Notebook 2: Emotion Classifier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Empathetic Response Mapping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Core Goal</a:t>
            </a:r>
            <a:r>
              <a:rPr sz="1200" b="0">
                <a:solidFill>
                  <a:srgbClr val="475569"/>
                </a:solidFill>
                <a:latin typeface="Calibri"/>
              </a:rPr>
              <a:t>: Identify user's emotional state to map response templates and guide LLM tone.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Tonal Grounding</a:t>
            </a:r>
            <a:r>
              <a:rPr sz="1200" b="0">
                <a:solidFill>
                  <a:srgbClr val="475569"/>
                </a:solidFill>
                <a:latin typeface="Calibri"/>
              </a:rPr>
              <a:t>: The assistant adapts its response dynamically based on the identified emotion.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Multilingual Requirement</a:t>
            </a:r>
            <a:r>
              <a:rPr sz="1200" b="0">
                <a:solidFill>
                  <a:srgbClr val="475569"/>
                </a:solidFill>
                <a:latin typeface="Calibri"/>
              </a:rPr>
              <a:t>: Must predict emotions natively (e.g. Arabic, French, German) without pre-translation.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The 6 Classified Emotions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>😢 </a:t>
            </a:r>
            <a:r>
              <a:rPr sz="1200" b="1">
                <a:solidFill>
                  <a:srgbClr val="0F172A"/>
                </a:solidFill>
                <a:latin typeface="Calibri"/>
              </a:rPr>
              <a:t>Sadness</a:t>
            </a:r>
            <a:r>
              <a:rPr sz="1200" b="0">
                <a:solidFill>
                  <a:srgbClr val="475569"/>
                </a:solidFill>
                <a:latin typeface="Calibri"/>
              </a:rPr>
              <a:t>: Invokes validation protocols + coping suggestions.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>😠 </a:t>
            </a:r>
            <a:r>
              <a:rPr sz="1200" b="1">
                <a:solidFill>
                  <a:srgbClr val="0F172A"/>
                </a:solidFill>
                <a:latin typeface="Calibri"/>
              </a:rPr>
              <a:t>Anger</a:t>
            </a:r>
            <a:r>
              <a:rPr sz="1200" b="0">
                <a:solidFill>
                  <a:srgbClr val="475569"/>
                </a:solidFill>
                <a:latin typeface="Calibri"/>
              </a:rPr>
              <a:t>: Invokes de-escalation guidelines + calming resources.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>😨 </a:t>
            </a:r>
            <a:r>
              <a:rPr sz="1200" b="1">
                <a:solidFill>
                  <a:srgbClr val="0F172A"/>
                </a:solidFill>
                <a:latin typeface="Calibri"/>
              </a:rPr>
              <a:t>Fear</a:t>
            </a:r>
            <a:r>
              <a:rPr sz="1200" b="0">
                <a:solidFill>
                  <a:srgbClr val="475569"/>
                </a:solidFill>
                <a:latin typeface="Calibri"/>
              </a:rPr>
              <a:t>: Invokes reassurance protocols + anxiety exercises.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>😊 </a:t>
            </a:r>
            <a:r>
              <a:rPr sz="1200" b="1">
                <a:solidFill>
                  <a:srgbClr val="0F172A"/>
                </a:solidFill>
                <a:latin typeface="Calibri"/>
              </a:rPr>
              <a:t>Joy</a:t>
            </a:r>
            <a:r>
              <a:rPr sz="1200" b="0">
                <a:solidFill>
                  <a:srgbClr val="475569"/>
                </a:solidFill>
                <a:latin typeface="Calibri"/>
              </a:rPr>
              <a:t> / 💛 </a:t>
            </a:r>
            <a:r>
              <a:rPr sz="1200" b="1">
                <a:solidFill>
                  <a:srgbClr val="0F172A"/>
                </a:solidFill>
                <a:latin typeface="Calibri"/>
              </a:rPr>
              <a:t>Love</a:t>
            </a:r>
            <a:r>
              <a:rPr sz="1200" b="0">
                <a:solidFill>
                  <a:srgbClr val="475569"/>
                </a:solidFill>
                <a:latin typeface="Calibri"/>
              </a:rPr>
              <a:t>: Invokes standard warm conversational responses.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>😲 </a:t>
            </a:r>
            <a:r>
              <a:rPr sz="1200" b="1">
                <a:solidFill>
                  <a:srgbClr val="0F172A"/>
                </a:solidFill>
                <a:latin typeface="Calibri"/>
              </a:rPr>
              <a:t>Surprise</a:t>
            </a:r>
            <a:r>
              <a:rPr sz="1200" b="0">
                <a:solidFill>
                  <a:srgbClr val="475569"/>
                </a:solidFill>
                <a:latin typeface="Calibri"/>
              </a:rPr>
              <a:t>: Request clarifications + standard responses.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Chosen Architecture: XLM-RoBERTa + LoRA PEFT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5394959"/>
            <a:ext cx="777240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USER INPUT QUERY (any language)  -&gt;  XLM-RoBERTa Tokenizer</a:t>
            </a:r>
          </a:p>
        </p:txBody>
      </p:sp>
      <p:sp>
        <p:nvSpPr>
          <p:cNvPr id="7" name="Up Arrow 6"/>
          <p:cNvSpPr/>
          <p:nvPr/>
        </p:nvSpPr>
        <p:spPr>
          <a:xfrm>
            <a:off x="5958687" y="4937760"/>
            <a:ext cx="274320" cy="365760"/>
          </a:xfrm>
          <a:prstGeom prst="up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04007" y="3108960"/>
            <a:ext cx="41148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75569"/>
                </a:solidFill>
                <a:latin typeface="Calibri"/>
              </a:rPr>
              <a:t>XLM-RoBERTa-base Encoder
(12 layers, 279M parameters)
</a:t>
            </a:r>
            <a:r>
              <a:rPr sz="1200" b="1">
                <a:solidFill>
                  <a:srgbClr val="475569"/>
                </a:solidFill>
                <a:latin typeface="Calibri"/>
              </a:rPr>
              <a:t>❄️ FROZEN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76007" y="3108960"/>
            <a:ext cx="2011680" cy="1645920"/>
          </a:xfrm>
          <a:prstGeom prst="rect">
            <a:avLst/>
          </a:prstGeom>
          <a:solidFill>
            <a:srgbClr val="2E3A87"/>
          </a:solidFill>
          <a:ln w="12700">
            <a:solidFill>
              <a:srgbClr val="2E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LoRA Adapters
(query, value attention projections)
r=16, alpha=32
</a:t>
            </a:r>
            <a:r>
              <a:rPr sz="1100" b="1">
                <a:solidFill>
                  <a:srgbClr val="C2410C"/>
                </a:solidFill>
                <a:latin typeface="Calibri"/>
              </a:rPr>
              <a:t>🔥 TRAINABLE (1.18M)</a:t>
            </a:r>
          </a:p>
        </p:txBody>
      </p:sp>
      <p:sp>
        <p:nvSpPr>
          <p:cNvPr id="10" name="Up Arrow 9"/>
          <p:cNvSpPr/>
          <p:nvPr/>
        </p:nvSpPr>
        <p:spPr>
          <a:xfrm>
            <a:off x="5958687" y="2651760"/>
            <a:ext cx="274320" cy="365760"/>
          </a:xfrm>
          <a:prstGeom prst="up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95447" y="1645920"/>
            <a:ext cx="6400800" cy="82296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Classification Head (Linear Layer 768  -&gt;  6 Emotion Classes)
</a:t>
            </a:r>
            <a:r>
              <a:rPr sz="1100" b="1">
                <a:solidFill>
                  <a:srgbClr val="C2410C"/>
                </a:solidFill>
                <a:latin typeface="Calibri"/>
              </a:rPr>
              <a:t>🔥 TRAINABLE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LOSS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Loss Function: Weighted Focal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Mathematical Formulation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Focal Loss Formula</a:t>
            </a:r>
            <a:r>
              <a:rPr sz="1200" b="0">
                <a:solidFill>
                  <a:srgbClr val="475569"/>
                </a:solidFill>
                <a:latin typeface="Calibri"/>
              </a:rPr>
              <a:t>: $L = -\alpha_c (1-p_t)^\gamma \log(p_t)$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Focal Scaling</a:t>
            </a:r>
            <a:r>
              <a:rPr sz="1200" b="0">
                <a:solidFill>
                  <a:srgbClr val="475569"/>
                </a:solidFill>
                <a:latin typeface="Calibri"/>
              </a:rPr>
              <a:t>: $(1 - p_t)^\gamma$ down-weights easy, well-classified examples, forcing gradients to focus on hard misclassifications.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Hyperparameters</a:t>
            </a:r>
            <a:r>
              <a:rPr sz="1200" b="0">
                <a:solidFill>
                  <a:srgbClr val="475569"/>
                </a:solidFill>
                <a:latin typeface="Calibri"/>
              </a:rPr>
              <a:t>: Focusing exponent set to </a:t>
            </a:r>
            <a:r>
              <a:rPr sz="1200" b="1">
                <a:solidFill>
                  <a:srgbClr val="0F172A"/>
                </a:solidFill>
                <a:latin typeface="Calibri"/>
              </a:rPr>
              <a:t>$\gamma = 2.0$</a:t>
            </a:r>
            <a:r>
              <a:rPr sz="1200" b="0">
                <a:solidFill>
                  <a:srgbClr val="475569"/>
                </a:solidFill>
                <a:latin typeface="Calibri"/>
              </a:rPr>
              <a:t> (optimized via validation grid sweep).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Per-Class Alpha Weights (Tuning)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Class Weight Vector ($\alpha$)</a:t>
            </a:r>
            <a:r>
              <a:rPr sz="1200" b="0">
                <a:solidFill>
                  <a:srgbClr val="475569"/>
                </a:solidFill>
                <a:latin typeface="Calibri"/>
              </a:rPr>
              <a:t>: Sadness (0.80), Joy (0.57), Anger (1.00), Fear (1.00), Love (0.50), Surprise (0.60).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Minority Down-weighting</a:t>
            </a:r>
            <a:r>
              <a:rPr sz="1200" b="0">
                <a:solidFill>
                  <a:srgbClr val="475569"/>
                </a:solidFill>
                <a:latin typeface="Calibri"/>
              </a:rPr>
              <a:t>: Down-weighted Love and Surprise to suppress minority class over-prediction.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Class Balance</a:t>
            </a:r>
            <a:r>
              <a:rPr sz="1200" b="0">
                <a:solidFill>
                  <a:srgbClr val="475569"/>
                </a:solidFill>
                <a:latin typeface="Calibri"/>
              </a:rPr>
              <a:t>: Prevents majority classes from dominating training dynamics.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2410C"/>
                </a:solidFill>
                <a:latin typeface="Calibri"/>
              </a:rP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The Major Challenge: Semantic Bleed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2410C"/>
                </a:solidFill>
                <a:latin typeface="Calibri"/>
              </a:rPr>
              <a:t>Boundary Confusion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Semantic Bleed</a:t>
            </a:r>
            <a:r>
              <a:rPr sz="1200" b="0">
                <a:solidFill>
                  <a:srgbClr val="475569"/>
                </a:solidFill>
                <a:latin typeface="Calibri"/>
              </a:rPr>
              <a:t>: Borderline confusion between high-arousal emotions (like Love and Surprise vs. Sadness/Joy).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Surprise Bleed</a:t>
            </a:r>
            <a:r>
              <a:rPr sz="1200" b="0">
                <a:solidFill>
                  <a:srgbClr val="475569"/>
                </a:solidFill>
                <a:latin typeface="Calibri"/>
              </a:rPr>
              <a:t>: Common expressions like 'I can't believe' or 'unbelievable' were over-predicted as Surprise.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Love Bleed</a:t>
            </a:r>
            <a:r>
              <a:rPr sz="1200" b="0">
                <a:solidFill>
                  <a:srgbClr val="475569"/>
                </a:solidFill>
                <a:latin typeface="Calibri"/>
              </a:rPr>
              <a:t>: Low-arousal sadness text mentioning 'alone' or 'empty' bled heavily into the Love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2410C"/>
                </a:solidFill>
                <a:latin typeface="Calibri"/>
              </a:rPr>
              <a:t>Impact on System Quality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Initial Score</a:t>
            </a:r>
            <a:r>
              <a:rPr sz="1200" b="0">
                <a:solidFill>
                  <a:srgbClr val="475569"/>
                </a:solidFill>
                <a:latin typeface="Calibri"/>
              </a:rPr>
              <a:t>: Early PEFT adapters passed only </a:t>
            </a:r>
            <a:r>
              <a:rPr sz="1200" b="1">
                <a:solidFill>
                  <a:srgbClr val="0F172A"/>
                </a:solidFill>
                <a:latin typeface="Calibri"/>
              </a:rPr>
              <a:t>59%</a:t>
            </a:r>
            <a:r>
              <a:rPr sz="1200" b="0">
                <a:solidFill>
                  <a:srgbClr val="475569"/>
                </a:solidFill>
                <a:latin typeface="Calibri"/>
              </a:rPr>
              <a:t> of the semantic bleed test suite.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Result</a:t>
            </a:r>
            <a:r>
              <a:rPr sz="1200" b="0">
                <a:solidFill>
                  <a:srgbClr val="475569"/>
                </a:solidFill>
                <a:latin typeface="Calibri"/>
              </a:rPr>
              <a:t>: Empathetic tone was mismatched (e.g. replying to sadness with joy/love templates), causing poor user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BLEED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Tackling Bleed — Solution A: Alpha 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Loss Weight Calibration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The Issue</a:t>
            </a:r>
            <a:r>
              <a:rPr sz="1200" b="0">
                <a:solidFill>
                  <a:srgbClr val="475569"/>
                </a:solidFill>
                <a:latin typeface="Calibri"/>
              </a:rPr>
              <a:t>: High loss weights on minority classes (Love, Surprise) caused the model to over-predict them on borderline inputs.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The Fix</a:t>
            </a:r>
            <a:r>
              <a:rPr sz="1200" b="0">
                <a:solidFill>
                  <a:srgbClr val="475569"/>
                </a:solidFill>
                <a:latin typeface="Calibri"/>
              </a:rPr>
              <a:t>: Reduced the alpha value for Love from 0.80 to </a:t>
            </a:r>
            <a:r>
              <a:rPr sz="1200" b="1">
                <a:solidFill>
                  <a:srgbClr val="0F172A"/>
                </a:solidFill>
                <a:latin typeface="Calibri"/>
              </a:rPr>
              <a:t>0.50</a:t>
            </a:r>
            <a:r>
              <a:rPr sz="1200" b="0">
                <a:solidFill>
                  <a:srgbClr val="475569"/>
                </a:solidFill>
                <a:latin typeface="Calibri"/>
              </a:rPr>
              <a:t>, and Surprise from 0.80 to </a:t>
            </a:r>
            <a:r>
              <a:rPr sz="1200" b="1">
                <a:solidFill>
                  <a:srgbClr val="0F172A"/>
                </a:solidFill>
                <a:latin typeface="Calibri"/>
              </a:rPr>
              <a:t>0.60</a:t>
            </a:r>
            <a:r>
              <a:rPr sz="1200" b="0">
                <a:solidFill>
                  <a:srgbClr val="475569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The Outcome</a:t>
            </a:r>
            <a:r>
              <a:rPr sz="1200" b="0">
                <a:solidFill>
                  <a:srgbClr val="475569"/>
                </a:solidFill>
                <a:latin typeface="Calibri"/>
              </a:rPr>
              <a:t>: Restored class balance, resolving the semantic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Empirical Gains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Balanced predictions</a:t>
            </a:r>
            <a:r>
              <a:rPr sz="1200" b="0">
                <a:solidFill>
                  <a:srgbClr val="475569"/>
                </a:solidFill>
                <a:latin typeface="Calibri"/>
              </a:rPr>
              <a:t>: Model requires stronger activation signatures to output Love/Surprise.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Val accuracy</a:t>
            </a:r>
            <a:r>
              <a:rPr sz="1200" b="0">
                <a:solidFill>
                  <a:srgbClr val="475569"/>
                </a:solidFill>
                <a:latin typeface="Calibri"/>
              </a:rPr>
              <a:t>: Val accuracy increased, and bleed test pass rate improved significantly.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BLEED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Tackling Bleed — Solution B: Augmentation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Back-Translation Pivots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Target Classes</a:t>
            </a:r>
            <a:r>
              <a:rPr sz="1200" b="0">
                <a:solidFill>
                  <a:srgbClr val="475569"/>
                </a:solidFill>
                <a:latin typeface="Calibri"/>
              </a:rPr>
              <a:t>: Augmentation applied strictly to minority classes (Love, Surprise).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MarianMT Models</a:t>
            </a:r>
            <a:r>
              <a:rPr sz="1200" b="0">
                <a:solidFill>
                  <a:srgbClr val="475569"/>
                </a:solidFill>
                <a:latin typeface="Calibri"/>
              </a:rPr>
              <a:t>: Translated English queries to </a:t>
            </a:r>
            <a:r>
              <a:rPr sz="1200" b="1">
                <a:solidFill>
                  <a:srgbClr val="0F172A"/>
                </a:solidFill>
                <a:latin typeface="Calibri"/>
              </a:rPr>
              <a:t>French (FR)</a:t>
            </a:r>
            <a:r>
              <a:rPr sz="1200" b="0">
                <a:solidFill>
                  <a:srgbClr val="475569"/>
                </a:solidFill>
                <a:latin typeface="Calibri"/>
              </a:rPr>
              <a:t> and </a:t>
            </a:r>
            <a:r>
              <a:rPr sz="1200" b="1">
                <a:solidFill>
                  <a:srgbClr val="0F172A"/>
                </a:solidFill>
                <a:latin typeface="Calibri"/>
              </a:rPr>
              <a:t>Arabic (AR)</a:t>
            </a:r>
            <a:r>
              <a:rPr sz="1200" b="0">
                <a:solidFill>
                  <a:srgbClr val="475569"/>
                </a:solidFill>
                <a:latin typeface="Calibri"/>
              </a:rPr>
              <a:t>, then back-translated to English.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Memory Safety</a:t>
            </a:r>
            <a:r>
              <a:rPr sz="1200" b="0">
                <a:solidFill>
                  <a:srgbClr val="475569"/>
                </a:solidFill>
                <a:latin typeface="Calibri"/>
              </a:rPr>
              <a:t>: Managed GPU memory by loading one Seq2Seq model pair at a time and calling garbage collection.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Semantic Similarity Filtering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Filter Model</a:t>
            </a:r>
            <a:r>
              <a:rPr sz="1200" b="0">
                <a:solidFill>
                  <a:srgbClr val="475569"/>
                </a:solidFill>
                <a:latin typeface="Calibri"/>
              </a:rPr>
              <a:t>: Multilingual `SentenceTransformer` evaluated cosine similarity between original and back-translated text.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Thresholds</a:t>
            </a:r>
            <a:r>
              <a:rPr sz="1200" b="0">
                <a:solidFill>
                  <a:srgbClr val="475569"/>
                </a:solidFill>
                <a:latin typeface="Calibri"/>
              </a:rPr>
              <a:t>: Love kept if similarity in </a:t>
            </a:r>
            <a:r>
              <a:rPr sz="1200" b="1">
                <a:solidFill>
                  <a:srgbClr val="0F172A"/>
                </a:solidFill>
                <a:latin typeface="Calibri"/>
              </a:rPr>
              <a:t>[0.75, 0.97]</a:t>
            </a:r>
            <a:r>
              <a:rPr sz="1200" b="0">
                <a:solidFill>
                  <a:srgbClr val="475569"/>
                </a:solidFill>
                <a:latin typeface="Calibri"/>
              </a:rPr>
              <a:t>. Surprise kept if in </a:t>
            </a:r>
            <a:r>
              <a:rPr sz="1200" b="1">
                <a:solidFill>
                  <a:srgbClr val="0F172A"/>
                </a:solidFill>
                <a:latin typeface="Calibri"/>
              </a:rPr>
              <a:t>[0.82, 0.97]</a:t>
            </a:r>
            <a:r>
              <a:rPr sz="1200" b="0">
                <a:solidFill>
                  <a:srgbClr val="475569"/>
                </a:solidFill>
                <a:latin typeface="Calibri"/>
              </a:rPr>
              <a:t> (stricter to avoid bleed).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Result</a:t>
            </a:r>
            <a:r>
              <a:rPr sz="1200" b="0">
                <a:solidFill>
                  <a:srgbClr val="475569"/>
                </a:solidFill>
                <a:latin typeface="Calibri"/>
              </a:rPr>
              <a:t>: Synthetic samples added without drifting away from the original emotional labels.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HARD NEGATIVES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Tackling Bleed — Solution C: Hard Negatives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1371600"/>
                <a:gridCol w="2679192"/>
              </a:tblGrid>
              <a:tr h="73152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Hard Negative Sample Text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 Label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 / Boundary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</a:tr>
              <a:tr h="73152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'I can't believe...' -&gt; NOT Surprise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"I can't believe how hopeless I feel."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Valence boundary: look at negative sentiment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'I can't believe...' -&gt; NOT Surprise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"I can't believe this is happening, I'm so scared."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Fear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Arousal boundary: prioritize anxiety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Sadness -&gt; NOT Love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"I feel so empty and hopeless, nothing matters."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Differentiate lonely sadness from love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High-arousal Love -&gt; NOT Surprise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"Seeing her walk down the aisle made my heart overflow."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Love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Keep intense affection labeled as Love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Multilingual Surprise anchors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"لا أصدق ما حدث، هذا أمر لا يصدق!" (Arabic)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Surprise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Anchor cross-lingual surprise phrases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Emotion Classifier Evaluation &amp; Experiment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83464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4400" b="1">
                <a:solidFill>
                  <a:srgbClr val="2E3A87"/>
                </a:solidFill>
                <a:latin typeface="Calibri"/>
              </a:rPr>
              <a:t>92.75%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Test Set Accuracy (Best Model)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283464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4400" b="1">
                <a:solidFill>
                  <a:srgbClr val="0F766E"/>
                </a:solidFill>
                <a:latin typeface="Calibri"/>
              </a:rPr>
              <a:t>96.00%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Semantic Bleed Pass Rate (24/25)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97680" y="1554480"/>
          <a:ext cx="71323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920240"/>
                <a:gridCol w="1920240"/>
                <a:gridCol w="822960"/>
                <a:gridCol w="914400"/>
                <a:gridCol w="1005840"/>
              </a:tblGrid>
              <a:tr h="74676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 #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Architecture Details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Augmentation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Bleed Test</a:t>
                      </a:r>
                    </a:p>
                  </a:txBody>
                  <a:tcPr anchor="ctr">
                    <a:solidFill>
                      <a:srgbClr val="2E3A87"/>
                    </a:solidFill>
                  </a:tcPr>
                </a:tc>
              </a:tr>
              <a:tr h="74676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LaBSE (frozen) + 2-layer BiLSTM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65.20%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LaBSE (top-2 unfrozen) + BiLSTM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88.40%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82.20%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XLM-RoBERTa + LoRA r=16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BT (no filter)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91.40%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88.20%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59.00%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XLM-RoBERTa + LoRA r=16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BT (filtered) + HN 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92.40%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88.40%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76.00%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XLM-RoBERTa + LoRA (tuned alpha)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BT (filtered) + HN v2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 b="1">
                          <a:solidFill>
                            <a:srgbClr val="2E3A87"/>
                          </a:solidFill>
                          <a:latin typeface="Calibri"/>
                        </a:rPr>
                        <a:t>92.75%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Calibri"/>
                        </a:rPr>
                        <a:t>87.52%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/>
                      <a:r>
                        <a:rPr sz="1050" b="1">
                          <a:solidFill>
                            <a:srgbClr val="2E3A87"/>
                          </a:solidFill>
                          <a:latin typeface="Calibri"/>
                        </a:rPr>
                        <a:t>96.00% (Best)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Confusion Matrix &amp; Robustness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Class-Specific F1-Scores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Top Classes</a:t>
            </a:r>
            <a:r>
              <a:rPr sz="1200" b="0">
                <a:solidFill>
                  <a:srgbClr val="475569"/>
                </a:solidFill>
                <a:latin typeface="Calibri"/>
              </a:rPr>
              <a:t>: Sadness, Joy, Anger, and Fear all scored </a:t>
            </a:r>
            <a:r>
              <a:rPr sz="1200" b="1">
                <a:solidFill>
                  <a:srgbClr val="0F172A"/>
                </a:solidFill>
                <a:latin typeface="Calibri"/>
              </a:rPr>
              <a:t>F1 &gt; 0.90</a:t>
            </a:r>
            <a:r>
              <a:rPr sz="1200" b="0">
                <a:solidFill>
                  <a:srgbClr val="475569"/>
                </a:solidFill>
                <a:latin typeface="Calibri"/>
              </a:rPr>
              <a:t> on the test split.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Improved Classes</a:t>
            </a:r>
            <a:r>
              <a:rPr sz="1200" b="0">
                <a:solidFill>
                  <a:srgbClr val="475569"/>
                </a:solidFill>
                <a:latin typeface="Calibri"/>
              </a:rPr>
              <a:t>: Love and Surprise scores improved significantly after alpha tuning and hard negative injection.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Error Reductions</a:t>
            </a:r>
            <a:r>
              <a:rPr sz="1200" b="0">
                <a:solidFill>
                  <a:srgbClr val="475569"/>
                </a:solidFill>
                <a:latin typeface="Calibri"/>
              </a:rPr>
              <a:t>: False predictions of Love on Sadness queries dropped by </a:t>
            </a:r>
            <a:r>
              <a:rPr sz="1200" b="1">
                <a:solidFill>
                  <a:srgbClr val="0F172A"/>
                </a:solidFill>
                <a:latin typeface="Calibri"/>
              </a:rPr>
              <a:t>88%</a:t>
            </a:r>
            <a:r>
              <a:rPr sz="1200" b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Cross-Lingual Robustness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Zero-shot Transfer</a:t>
            </a:r>
            <a:r>
              <a:rPr sz="1200" b="0">
                <a:solidFill>
                  <a:srgbClr val="475569"/>
                </a:solidFill>
                <a:latin typeface="Calibri"/>
              </a:rPr>
              <a:t>: Validated high classification accuracy on Arabic, French, Spanish, and German queries.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Dialect Coverage</a:t>
            </a:r>
            <a:r>
              <a:rPr sz="1200" b="0">
                <a:solidFill>
                  <a:srgbClr val="475569"/>
                </a:solidFill>
                <a:latin typeface="Calibri"/>
              </a:rPr>
              <a:t>: The model correctly resolves emotional valence in regional dialects (e.g. Egyptian/Gulf Arabic).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Production Ready</a:t>
            </a:r>
            <a:r>
              <a:rPr sz="1200" b="0">
                <a:solidFill>
                  <a:srgbClr val="475569"/>
                </a:solidFill>
                <a:latin typeface="Calibri"/>
              </a:rPr>
              <a:t>: Model checkpoints loaded natively in backend pipeline.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0116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F172A"/>
                </a:solidFill>
                <a:latin typeface="Calibri"/>
              </a:rPr>
              <a:t>Part C: RAG &amp; Pipeline Integrations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Dual-index retrieval, BAAI Cross-Encoder reranking, Groq Whisper speech input, and conversational context.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VECTOR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Document Processing &amp; Vector DB Indexing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Recursive Text Splitting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Dataset</a:t>
            </a:r>
            <a:r>
              <a:rPr sz="1200" b="0">
                <a:solidFill>
                  <a:srgbClr val="475569"/>
                </a:solidFill>
                <a:latin typeface="Calibri"/>
              </a:rPr>
              <a:t>: 994 professional counseling case logs, detailing issues like anxiety, stress, and panic.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Recursive Split</a:t>
            </a:r>
            <a:r>
              <a:rPr sz="1200" b="0">
                <a:solidFill>
                  <a:srgbClr val="475569"/>
                </a:solidFill>
                <a:latin typeface="Calibri"/>
              </a:rPr>
              <a:t>: Text chunked with `RecursiveCharacterTextSplitter` using `chunk_size=500` and `overlap=100`.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Sentence Integrity</a:t>
            </a:r>
            <a:r>
              <a:rPr sz="1200" b="0">
                <a:solidFill>
                  <a:srgbClr val="475569"/>
                </a:solidFill>
                <a:latin typeface="Calibri"/>
              </a:rPr>
              <a:t>: Preserves semantic cohesion and avoids mid-sentence split markers.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Dual Database Indexes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Vector Store</a:t>
            </a:r>
            <a:r>
              <a:rPr sz="1200" b="0">
                <a:solidFill>
                  <a:srgbClr val="475569"/>
                </a:solidFill>
                <a:latin typeface="Calibri"/>
              </a:rPr>
              <a:t>: Qdrant DB storing </a:t>
            </a:r>
            <a:r>
              <a:rPr sz="1200" b="1">
                <a:solidFill>
                  <a:srgbClr val="0F172A"/>
                </a:solidFill>
                <a:latin typeface="Calibri"/>
              </a:rPr>
              <a:t>BGE-small-en-v1.5</a:t>
            </a:r>
            <a:r>
              <a:rPr sz="1200" b="0">
                <a:solidFill>
                  <a:srgbClr val="475569"/>
                </a:solidFill>
                <a:latin typeface="Calibri"/>
              </a:rPr>
              <a:t> embeddings (384-dimensional dense vectors).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Sparse Index</a:t>
            </a:r>
            <a:r>
              <a:rPr sz="1200" b="0">
                <a:solidFill>
                  <a:srgbClr val="475569"/>
                </a:solidFill>
                <a:latin typeface="Calibri"/>
              </a:rPr>
              <a:t>: BM25 index built from the same document chunks.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Concurrency Lock</a:t>
            </a:r>
            <a:r>
              <a:rPr sz="1200" b="0">
                <a:solidFill>
                  <a:srgbClr val="475569"/>
                </a:solidFill>
                <a:latin typeface="Calibri"/>
              </a:rPr>
              <a:t>: Handled database folder locks to avoid startup conflicts.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Ensemble Retrieval &amp; Cross-Encoder Reranking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Hybrid Ensemble Retrieval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Mechanism</a:t>
            </a:r>
            <a:r>
              <a:rPr sz="1200" b="0">
                <a:solidFill>
                  <a:srgbClr val="475569"/>
                </a:solidFill>
                <a:latin typeface="Calibri"/>
              </a:rPr>
              <a:t>: Combines Qdrant dense vector search (semantic similarity) and BM25 sparse keyword search.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Parameters</a:t>
            </a:r>
            <a:r>
              <a:rPr sz="1200" b="0">
                <a:solidFill>
                  <a:srgbClr val="475569"/>
                </a:solidFill>
                <a:latin typeface="Calibri"/>
              </a:rPr>
              <a:t>: Retrieval size set to </a:t>
            </a:r>
            <a:r>
              <a:rPr sz="1200" b="1">
                <a:solidFill>
                  <a:srgbClr val="0F172A"/>
                </a:solidFill>
                <a:latin typeface="Calibri"/>
              </a:rPr>
              <a:t>k=10</a:t>
            </a:r>
            <a:r>
              <a:rPr sz="1200" b="0">
                <a:solidFill>
                  <a:srgbClr val="475569"/>
                </a:solidFill>
                <a:latin typeface="Calibri"/>
              </a:rPr>
              <a:t> for both pipelines (totaling 20 candidates).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Weighted Ranking</a:t>
            </a:r>
            <a:r>
              <a:rPr sz="1200" b="0">
                <a:solidFill>
                  <a:srgbClr val="475569"/>
                </a:solidFill>
                <a:latin typeface="Calibri"/>
              </a:rPr>
              <a:t>: Ranks retrieved documents using reciprocal rank 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BAAI Cross-Encoder Reranking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Reranker Model</a:t>
            </a:r>
            <a:r>
              <a:rPr sz="1200" b="0">
                <a:solidFill>
                  <a:srgbClr val="475569"/>
                </a:solidFill>
                <a:latin typeface="Calibri"/>
              </a:rPr>
              <a:t>: BAAI/bge-reranker-v2-m3 HuggingFace Inference API.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Batch Execution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Submits all 20 retrieved candidates in a single batch request, reducing latency.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Precision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Selects top 5 document chunks, mapping scores back to original document order.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Translation Pipeline &amp; Whisper Speech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Two-Layer Translation Flow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Primary Translation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Groq LLM API with temperature=0.0 to translate queries to English for retrieval.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Local Fallback</a:t>
            </a:r>
            <a:r>
              <a:rPr sz="1200" b="0">
                <a:solidFill>
                  <a:srgbClr val="475569"/>
                </a:solidFill>
                <a:latin typeface="Calibri"/>
              </a:rPr>
              <a:t>: Local Seq2Seq model `Helsinki-NLP/opus-mt-mul-en` handles offline translation.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Bypass Heuristic</a:t>
            </a:r>
            <a:r>
              <a:rPr sz="1200" b="0">
                <a:solidFill>
                  <a:srgbClr val="475569"/>
                </a:solidFill>
                <a:latin typeface="Calibri"/>
              </a:rPr>
              <a:t>: Pure ASCII inputs bypass translation entirely to save API tokens.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Original Query preservation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Original text passed directly to LLM generation for native language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Whisper Speech-to-Text Endpoint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Transcribe API</a:t>
            </a:r>
            <a:r>
              <a:rPr sz="1200" b="0">
                <a:solidFill>
                  <a:srgbClr val="475569"/>
                </a:solidFill>
                <a:latin typeface="Calibri"/>
              </a:rPr>
              <a:t>: `/transcribe` endpoint utilizing Groq's official Whisper API (`whisper-large-v3`).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Client capture</a:t>
            </a:r>
            <a:r>
              <a:rPr sz="1200" b="0">
                <a:solidFill>
                  <a:srgbClr val="475569"/>
                </a:solidFill>
                <a:latin typeface="Calibri"/>
              </a:rPr>
              <a:t>: HTML5 MediaRecorder captures audio in the browser, packaging it as a WAV blob.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UI Feedback</a:t>
            </a:r>
            <a:r>
              <a:rPr sz="1200" b="0">
                <a:solidFill>
                  <a:srgbClr val="475569"/>
                </a:solidFill>
                <a:latin typeface="Calibri"/>
              </a:rPr>
              <a:t>: Pulsing red button animation during recording, updating status indicators.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Startup Optimization &amp; Context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Concurrent Async Model Preloading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The Problem</a:t>
            </a:r>
            <a:r>
              <a:rPr sz="1200" b="0">
                <a:solidFill>
                  <a:srgbClr val="475569"/>
                </a:solidFill>
                <a:latin typeface="Calibri"/>
              </a:rPr>
              <a:t>: Lazy model loading on the first request caused </a:t>
            </a:r>
            <a:r>
              <a:rPr sz="1200" b="1">
                <a:solidFill>
                  <a:srgbClr val="0F172A"/>
                </a:solidFill>
                <a:latin typeface="Calibri"/>
              </a:rPr>
              <a:t>20+ second latency spikes</a:t>
            </a:r>
            <a:r>
              <a:rPr sz="1200" b="0">
                <a:solidFill>
                  <a:srgbClr val="475569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The Solution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`preload_models` called during FastAPI server startup, loading models concurrently via `asyncio.gather`.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Preloaded Assets</a:t>
            </a:r>
            <a:r>
              <a:rPr sz="1200" b="0">
                <a:solidFill>
                  <a:srgbClr val="475569"/>
                </a:solidFill>
                <a:latin typeface="Calibri"/>
              </a:rPr>
              <a:t>: Language detector, Emotion classifier, Translator tokenizer, and Qdrant DB clients.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Result</a:t>
            </a:r>
            <a:r>
              <a:rPr sz="1200" b="0">
                <a:solidFill>
                  <a:srgbClr val="475569"/>
                </a:solidFill>
                <a:latin typeface="Calibri"/>
              </a:rPr>
              <a:t>: Server is responsive on the very first user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6-Turn Rolling Conversation History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History Slicing</a:t>
            </a:r>
            <a:r>
              <a:rPr sz="1200" b="0">
                <a:solidFill>
                  <a:srgbClr val="475569"/>
                </a:solidFill>
                <a:latin typeface="Calibri"/>
              </a:rPr>
              <a:t>: Client tracks user/assistant message pairs and sends the </a:t>
            </a:r>
            <a:r>
              <a:rPr sz="1200" b="1">
                <a:solidFill>
                  <a:srgbClr val="0F172A"/>
                </a:solidFill>
                <a:latin typeface="Calibri"/>
              </a:rPr>
              <a:t>last 6 turns</a:t>
            </a:r>
            <a:r>
              <a:rPr sz="1200" b="0">
                <a:solidFill>
                  <a:srgbClr val="475569"/>
                </a:solidFill>
                <a:latin typeface="Calibri"/>
              </a:rPr>
              <a:t> to the server.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Context Formulation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LLM prompt incorporates the conversation history block for continuity.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Grounded continuity</a:t>
            </a:r>
            <a:r>
              <a:rPr sz="1200" b="0">
                <a:solidFill>
                  <a:srgbClr val="475569"/>
                </a:solidFill>
                <a:latin typeface="Calibri"/>
              </a:rPr>
              <a:t>: Chat history is formatted as a dialog log, allowing references to past turns.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0116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F172A"/>
                </a:solidFill>
                <a:latin typeface="Calibri"/>
              </a:rPr>
              <a:t>Part D: Safety, Evaluation &amp; Conclusion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Post-process safety filters, LangSmith trace runs, evaluation benchmarks, and future roadmap.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2410C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Safety Guardrails &amp; Medical Disclaimers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2410C"/>
                </a:solidFill>
                <a:latin typeface="Calibri"/>
              </a:rPr>
              <a:t>Jailbreak &amp; Prompt Injection Filter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Injection Scanner</a:t>
            </a:r>
            <a:r>
              <a:rPr sz="1200" b="0">
                <a:solidFill>
                  <a:srgbClr val="475569"/>
                </a:solidFill>
                <a:latin typeface="Calibri"/>
              </a:rPr>
              <a:t>: Regex scans for injection patterns in English, Arabic, Spanish, French, and German.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Core Focus Rule</a:t>
            </a:r>
            <a:r>
              <a:rPr sz="1200" b="0">
                <a:solidFill>
                  <a:srgbClr val="475569"/>
                </a:solidFill>
                <a:latin typeface="Calibri"/>
              </a:rPr>
              <a:t>: Classifier ignores emotional preambles and focuses on the core user request.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Safety decline</a:t>
            </a:r>
            <a:r>
              <a:rPr sz="1200" b="0">
                <a:solidFill>
                  <a:srgbClr val="475569"/>
                </a:solidFill>
                <a:latin typeface="Calibri"/>
              </a:rPr>
              <a:t>: Triggers polite redirects for adversarial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2410C"/>
                </a:solidFill>
                <a:latin typeface="Calibri"/>
              </a:rPr>
              <a:t>Medication Warning Intercept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Drug Detection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Scans query and response for </a:t>
            </a:r>
            <a:r>
              <a:rPr sz="1200" b="1">
                <a:solidFill>
                  <a:srgbClr val="0F172A"/>
                </a:solidFill>
                <a:latin typeface="Calibri"/>
              </a:rPr>
              <a:t>30+ common psychiatric drugs</a:t>
            </a:r>
            <a:r>
              <a:rPr sz="1200" b="0">
                <a:solidFill>
                  <a:srgbClr val="475569"/>
                </a:solidFill>
                <a:latin typeface="Calibri"/>
              </a:rPr>
              <a:t> (Xanax, Zoloft, Lexapro, etc.).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Medical Disclaimer</a:t>
            </a:r>
            <a:r>
              <a:rPr sz="1200" b="0">
                <a:solidFill>
                  <a:srgbClr val="475569"/>
                </a:solidFill>
                <a:latin typeface="Calibri"/>
              </a:rPr>
              <a:t>: Appends a standardized disclaimer warning that the chatbot is not a licensed physician.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Emergency helpline</a:t>
            </a:r>
            <a:r>
              <a:rPr sz="1200" b="0">
                <a:solidFill>
                  <a:srgbClr val="475569"/>
                </a:solidFill>
                <a:latin typeface="Calibri"/>
              </a:rPr>
              <a:t>: Appends localized helpline contacts on detected crisis inputs.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3A87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Evaluation Framework &amp; Unit Test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E3A87"/>
                </a:solidFill>
                <a:latin typeface="Calibri"/>
              </a:rPr>
              <a:t>LangSmith Trace Logging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Tracing</a:t>
            </a:r>
            <a:r>
              <a:rPr sz="1200" b="0">
                <a:solidFill>
                  <a:srgbClr val="475569"/>
                </a:solidFill>
                <a:latin typeface="Calibri"/>
              </a:rPr>
              <a:t>: RAG query execution is traced via LangSmith integration.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Metrics Logged</a:t>
            </a:r>
            <a:r>
              <a:rPr sz="1200" b="0">
                <a:solidFill>
                  <a:srgbClr val="475569"/>
                </a:solidFill>
                <a:latin typeface="Calibri"/>
              </a:rPr>
              <a:t>: Captures retrieval latency, reranker relevance, and end-to-end token costs.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Ragas Integration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Evaluation metrics measure answer relevance and context precision.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E3A87"/>
                </a:solidFill>
                <a:latin typeface="Calibri"/>
              </a:rPr>
              <a:t>Passing Unit Test Suite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Test coverage</a:t>
            </a:r>
            <a:r>
              <a:rPr sz="1200" b="0">
                <a:solidFill>
                  <a:srgbClr val="475569"/>
                </a:solidFill>
                <a:latin typeface="Calibri"/>
              </a:rPr>
              <a:t>: 31 unit tests covering classifiers, translation, STT, and routing layers.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Passing Rate</a:t>
            </a:r>
            <a:r>
              <a:rPr sz="1200" b="0">
                <a:solidFill>
                  <a:srgbClr val="475569"/>
                </a:solidFill>
                <a:latin typeface="Calibri"/>
              </a:rPr>
              <a:t>: </a:t>
            </a:r>
            <a:r>
              <a:rPr sz="1200" b="1">
                <a:solidFill>
                  <a:srgbClr val="0F172A"/>
                </a:solidFill>
                <a:latin typeface="Calibri"/>
              </a:rPr>
              <a:t>31/31 unit tests passing</a:t>
            </a:r>
            <a:r>
              <a:rPr sz="1200" b="0">
                <a:solidFill>
                  <a:srgbClr val="475569"/>
                </a:solidFill>
                <a:latin typeface="Calibri"/>
              </a:rPr>
              <a:t> successfully.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Crisis tests</a:t>
            </a:r>
            <a:r>
              <a:rPr sz="1200" b="0">
                <a:solidFill>
                  <a:srgbClr val="475569"/>
                </a:solidFill>
                <a:latin typeface="Calibri"/>
              </a:rPr>
              <a:t>: Validated high-confidence vs low-confidence embedding routing.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29260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3A87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475569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alibri"/>
              </a:rPr>
              <a:t>Conclusion &amp; Future Engineering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E3A87"/>
                </a:solidFill>
                <a:latin typeface="Calibri"/>
              </a:rPr>
              <a:t>Deliverables Achieved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Dual-Model Classifiers</a:t>
            </a:r>
            <a:r>
              <a:rPr sz="1200" b="0">
                <a:solidFill>
                  <a:srgbClr val="475569"/>
                </a:solidFill>
                <a:latin typeface="Calibri"/>
              </a:rPr>
              <a:t>: Preloaded Language detector and PEFT XLM-RoBERTa Emotion classifier.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Multi-Layered Router</a:t>
            </a:r>
            <a:r>
              <a:rPr sz="1200" b="0">
                <a:solidFill>
                  <a:srgbClr val="475569"/>
                </a:solidFill>
                <a:latin typeface="Calibri"/>
              </a:rPr>
              <a:t>: Three-layer router with 85% confidence safety gate.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Production API</a:t>
            </a:r>
            <a:r>
              <a:rPr sz="1200" b="0">
                <a:solidFill>
                  <a:srgbClr val="475569"/>
                </a:solidFill>
                <a:latin typeface="Calibri"/>
              </a:rPr>
              <a:t>: FastAPI server with Whisper speech inputs and rolling conversation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E3A87"/>
                </a:solidFill>
                <a:latin typeface="Calibri"/>
              </a:rPr>
              <a:t>Future Development Roadmap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Dataset Expansion</a:t>
            </a:r>
            <a:r>
              <a:rPr sz="1200" b="0">
                <a:solidFill>
                  <a:srgbClr val="475569"/>
                </a:solidFill>
                <a:latin typeface="Calibri"/>
              </a:rPr>
              <a:t>: Add counseling case logs covering burnout and mindfulness.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Offline Text-to-Speech</a:t>
            </a:r>
            <a:r>
              <a:rPr sz="1200" b="0">
                <a:solidFill>
                  <a:srgbClr val="475569"/>
                </a:solidFill>
                <a:latin typeface="Calibri"/>
              </a:rPr>
              <a:t>: Integrate text-to-speech for audio-based empathetic responses.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3A87"/>
                </a:solidFill>
                <a:latin typeface="Calibri"/>
              </a:rPr>
              <a:t>•  </a:t>
            </a: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  <a:r>
              <a:rPr sz="1200" b="1">
                <a:solidFill>
                  <a:srgbClr val="0F172A"/>
                </a:solidFill>
                <a:latin typeface="Calibri"/>
              </a:rPr>
              <a:t>Fine-Tuning</a:t>
            </a:r>
            <a:r>
              <a:rPr sz="1200" b="0">
                <a:solidFill>
                  <a:srgbClr val="475569"/>
                </a:solidFill>
                <a:latin typeface="Calibri"/>
              </a:rPr>
              <a:t>: Fine-tune localized emotion classifiers on Arabic and Urdu clinical datasets.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2E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SERENE AI
</a:t>
            </a:r>
          </a:p>
          <a:p>
            <a:pPr algn="ctr"/>
            <a:r>
              <a:rPr sz="1300" b="1">
                <a:solidFill>
                  <a:srgbClr val="C7D2FE"/>
                </a:solidFill>
                <a:latin typeface="Calibri"/>
              </a:rPr>
              <a:t>NLP FINAL PROJECT
TECHNICAL REVIEW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b="1">
                <a:solidFill>
                  <a:srgbClr val="0F172A"/>
                </a:solidFill>
                <a:latin typeface="Calibri"/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280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Questions, Discussion, and Review</a:t>
            </a:r>
          </a:p>
          <a:p>
            <a:r>
              <a:rPr sz="1300" b="1">
                <a:solidFill>
                  <a:srgbClr val="0F766E"/>
                </a:solidFill>
                <a:latin typeface="Calibri"/>
              </a:rPr>
              <a:t>NLP Final Project Team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